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0" r:id="rId1"/>
    <p:sldMasterId id="2147483734" r:id="rId2"/>
  </p:sldMasterIdLst>
  <p:sldIdLst>
    <p:sldId id="256" r:id="rId3"/>
    <p:sldId id="257" r:id="rId4"/>
    <p:sldId id="258" r:id="rId5"/>
    <p:sldId id="259" r:id="rId6"/>
    <p:sldId id="260" r:id="rId7"/>
    <p:sldId id="261" r:id="rId8"/>
    <p:sldId id="263" r:id="rId9"/>
    <p:sldId id="264" r:id="rId10"/>
    <p:sldId id="265" r:id="rId11"/>
    <p:sldId id="266"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81" name="Google Shape;148;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83" name="Google Shape;151;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85"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7/11/2025</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D57F1E4F-1CFF-5643-939E-02111984F565}" type="slidenum">
              <a:rPr lang="en-US" smtClean="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8667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2795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50711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78257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7/11/2025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6982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7/11/2025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7715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7/11/2025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95859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65174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509A250-FF31-4206-8172-F9D3106AACB1}" type="datetimeFigureOut">
              <a:rPr lang="en-US" smtClean="0"/>
              <a:t>7/11/2025</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78364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3442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36532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94920" y="1835280"/>
            <a:ext cx="8353440" cy="224388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5040" y="0"/>
            <a:ext cx="9143640" cy="1521360"/>
          </a:xfrm>
          <a:prstGeom prst="rect">
            <a:avLst/>
          </a:prstGeom>
          <a:noFill/>
          <a:ln w="0">
            <a:noFill/>
          </a:ln>
        </p:spPr>
        <p:txBody>
          <a:bodyPr lIns="90000" tIns="45000" rIns="90000" bIns="45000" anchor="t">
            <a:normAutofit fontScale="8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698243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ONE_COLUMN_TEXT_2">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394920" y="252000"/>
            <a:ext cx="5055840" cy="113004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a:rPr>
              <a:t>Click to edit the title text format</a:t>
            </a:r>
          </a:p>
        </p:txBody>
      </p:sp>
      <p:sp>
        <p:nvSpPr>
          <p:cNvPr id="27" name="PlaceHolder 2"/>
          <p:cNvSpPr>
            <a:spLocks noGrp="1"/>
          </p:cNvSpPr>
          <p:nvPr>
            <p:ph type="body"/>
          </p:nvPr>
        </p:nvSpPr>
        <p:spPr>
          <a:xfrm>
            <a:off x="5512680" y="0"/>
            <a:ext cx="363132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806734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SECTION_HEADER">
    <p:bg>
      <p:bgPr>
        <a:solidFill>
          <a:schemeClr val="lt1"/>
        </a:solidFill>
        <a:effectLst/>
      </p:bgPr>
    </p:bg>
    <p:spTree>
      <p:nvGrpSpPr>
        <p:cNvPr id="1" name=""/>
        <p:cNvGrpSpPr/>
        <p:nvPr/>
      </p:nvGrpSpPr>
      <p:grpSpPr>
        <a:xfrm>
          <a:off x="0" y="0"/>
          <a:ext cx="0" cy="0"/>
          <a:chOff x="0" y="0"/>
          <a:chExt cx="0" cy="0"/>
        </a:xfrm>
      </p:grpSpPr>
      <p:sp>
        <p:nvSpPr>
          <p:cNvPr id="49" name="PlaceHolder 1"/>
          <p:cNvSpPr>
            <a:spLocks noGrp="1"/>
          </p:cNvSpPr>
          <p:nvPr>
            <p:ph type="body"/>
          </p:nvPr>
        </p:nvSpPr>
        <p:spPr>
          <a:xfrm>
            <a:off x="-5040" y="3150000"/>
            <a:ext cx="9143640" cy="199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1" name="PlaceHolder 2"/>
          <p:cNvSpPr>
            <a:spLocks noGrp="1"/>
          </p:cNvSpPr>
          <p:nvPr>
            <p:ph type="title"/>
          </p:nvPr>
        </p:nvSpPr>
        <p:spPr>
          <a:xfrm>
            <a:off x="394920" y="1435680"/>
            <a:ext cx="8353440" cy="84132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
        <p:nvSpPr>
          <p:cNvPr id="52" name="PlaceHolder 3"/>
          <p:cNvSpPr>
            <a:spLocks noGrp="1"/>
          </p:cNvSpPr>
          <p:nvPr>
            <p:ph type="title"/>
          </p:nvPr>
        </p:nvSpPr>
        <p:spPr>
          <a:xfrm>
            <a:off x="394920" y="395280"/>
            <a:ext cx="1235520" cy="841320"/>
          </a:xfrm>
          <a:prstGeom prst="rect">
            <a:avLst/>
          </a:prstGeom>
          <a:noFill/>
          <a:ln w="0">
            <a:noFill/>
          </a:ln>
        </p:spPr>
        <p:txBody>
          <a:bodyPr lIns="91440" tIns="91440" rIns="91440" bIns="91440" anchor="b">
            <a:noAutofit/>
          </a:bodyPr>
          <a:lstStyle/>
          <a:p>
            <a:pPr indent="0">
              <a:lnSpc>
                <a:spcPct val="100000"/>
              </a:lnSpc>
              <a:buNone/>
            </a:pPr>
            <a:r>
              <a:rPr lang="fr-FR" sz="4000" b="0" u="none" strike="noStrike">
                <a:solidFill>
                  <a:schemeClr val="dk1"/>
                </a:solidFill>
                <a:effectLst/>
                <a:uFillTx/>
                <a:latin typeface="Libre Baskerville"/>
                <a:ea typeface="Libre Baskerville"/>
              </a:rPr>
              <a:t>xx%</a:t>
            </a:r>
            <a:endParaRPr lang="fr-FR" sz="4000" b="0" u="none" strike="noStrike">
              <a:solidFill>
                <a:schemeClr val="dk1"/>
              </a:solidFill>
              <a:effectLst/>
              <a:uFillTx/>
              <a:latin typeface="Arial"/>
            </a:endParaRPr>
          </a:p>
        </p:txBody>
      </p:sp>
    </p:spTree>
    <p:extLst>
      <p:ext uri="{BB962C8B-B14F-4D97-AF65-F5344CB8AC3E}">
        <p14:creationId xmlns:p14="http://schemas.microsoft.com/office/powerpoint/2010/main" val="23345693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6"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6" cstate="print">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dirty="0"/>
              <a:pPr/>
              <a:t>7/11/2025</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5531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2"/>
          <p:cNvSpPr>
            <a:spLocks noGrp="1"/>
          </p:cNvSpPr>
          <p:nvPr>
            <p:ph type="body"/>
          </p:nvPr>
        </p:nvSpPr>
        <p:spPr>
          <a:xfrm>
            <a:off x="390600" y="2869580"/>
            <a:ext cx="5787176" cy="1679188"/>
          </a:xfrm>
          <a:prstGeom prst="rect">
            <a:avLst/>
          </a:prstGeom>
          <a:noFill/>
          <a:ln w="0">
            <a:noFill/>
          </a:ln>
        </p:spPr>
        <p:txBody>
          <a:bodyPr lIns="91440" tIns="91440" rIns="91440" bIns="91440" anchor="t">
            <a:normAutofit fontScale="62500" lnSpcReduction="20000"/>
          </a:bodyPr>
          <a:lstStyle/>
          <a:p>
            <a:pPr indent="0">
              <a:buNone/>
            </a:pPr>
            <a:r>
              <a:rPr lang="en-US" sz="1600" b="1" dirty="0">
                <a:solidFill>
                  <a:schemeClr val="dk1"/>
                </a:solidFill>
                <a:latin typeface="DM Sans"/>
                <a:ea typeface="DM Sans"/>
              </a:rPr>
              <a:t>Name of group members:</a:t>
            </a:r>
          </a:p>
          <a:p>
            <a:pPr marL="457200" indent="-457200">
              <a:buAutoNum type="arabicPeriod"/>
            </a:pPr>
            <a:r>
              <a:rPr lang="en-US" sz="1600" b="0" u="none" strike="noStrike" dirty="0">
                <a:solidFill>
                  <a:schemeClr val="dk1"/>
                </a:solidFill>
                <a:effectLst/>
                <a:uFillTx/>
                <a:latin typeface="DM Sans"/>
                <a:ea typeface="DM Sans"/>
              </a:rPr>
              <a:t>PRAKRITI SINGH</a:t>
            </a:r>
            <a:r>
              <a:rPr lang="en-US" sz="1600" dirty="0">
                <a:solidFill>
                  <a:schemeClr val="dk1"/>
                </a:solidFill>
                <a:latin typeface="DM Sans"/>
                <a:ea typeface="DM Sans"/>
              </a:rPr>
              <a:t> – 12308985</a:t>
            </a:r>
          </a:p>
          <a:p>
            <a:pPr marL="457200" indent="-457200">
              <a:buAutoNum type="arabicPeriod"/>
            </a:pPr>
            <a:r>
              <a:rPr lang="en-US" sz="1600" b="0" u="none" strike="noStrike" dirty="0">
                <a:solidFill>
                  <a:schemeClr val="dk1"/>
                </a:solidFill>
                <a:effectLst/>
                <a:uFillTx/>
                <a:latin typeface="DM Sans"/>
                <a:ea typeface="DM Sans"/>
              </a:rPr>
              <a:t>PRATEEK KUMAR SINHA – 12321106</a:t>
            </a:r>
          </a:p>
          <a:p>
            <a:pPr marL="457200" indent="-457200">
              <a:buAutoNum type="arabicPeriod"/>
            </a:pPr>
            <a:r>
              <a:rPr lang="en-US" sz="1600" b="0" u="none" strike="noStrike" dirty="0">
                <a:solidFill>
                  <a:schemeClr val="dk1"/>
                </a:solidFill>
                <a:effectLst/>
                <a:uFillTx/>
                <a:latin typeface="DM Sans"/>
                <a:ea typeface="DM Sans"/>
              </a:rPr>
              <a:t>LOKESH KUMAR REDD</a:t>
            </a:r>
            <a:r>
              <a:rPr lang="en-US" sz="1600" dirty="0">
                <a:solidFill>
                  <a:schemeClr val="dk1"/>
                </a:solidFill>
                <a:latin typeface="DM Sans"/>
                <a:ea typeface="DM Sans"/>
              </a:rPr>
              <a:t>Y – 12301738</a:t>
            </a:r>
          </a:p>
          <a:p>
            <a:pPr marL="457200" indent="-457200">
              <a:buAutoNum type="arabicPeriod"/>
            </a:pPr>
            <a:r>
              <a:rPr lang="en-US" sz="1600" b="0" u="none" strike="noStrike" dirty="0">
                <a:solidFill>
                  <a:schemeClr val="dk1"/>
                </a:solidFill>
                <a:effectLst/>
                <a:uFillTx/>
                <a:latin typeface="DM Sans"/>
                <a:ea typeface="DM Sans"/>
              </a:rPr>
              <a:t>MANCHIKANTI MEGHAVARDHAN – 12318864</a:t>
            </a:r>
          </a:p>
          <a:p>
            <a:pPr marL="457200" indent="-457200">
              <a:buAutoNum type="arabicPeriod"/>
            </a:pPr>
            <a:r>
              <a:rPr lang="en-US" sz="1600" dirty="0">
                <a:solidFill>
                  <a:schemeClr val="dk1"/>
                </a:solidFill>
                <a:latin typeface="DM Sans"/>
                <a:ea typeface="DM Sans"/>
              </a:rPr>
              <a:t>RAUNAK MISHRA - 12318274</a:t>
            </a:r>
            <a:endParaRPr lang="en-US" sz="1600" b="0" u="none" strike="noStrike" dirty="0">
              <a:solidFill>
                <a:schemeClr val="dk1"/>
              </a:solidFill>
              <a:effectLst/>
              <a:uFillTx/>
              <a:latin typeface="DM Sans"/>
              <a:ea typeface="DM Sans"/>
            </a:endParaRPr>
          </a:p>
        </p:txBody>
      </p:sp>
      <p:sp>
        <p:nvSpPr>
          <p:cNvPr id="86" name="PlaceHolder 1"/>
          <p:cNvSpPr>
            <a:spLocks noGrp="1"/>
          </p:cNvSpPr>
          <p:nvPr>
            <p:ph type="title"/>
          </p:nvPr>
        </p:nvSpPr>
        <p:spPr>
          <a:xfrm>
            <a:off x="390600" y="1680117"/>
            <a:ext cx="8353080" cy="1092819"/>
          </a:xfrm>
          <a:prstGeom prst="rect">
            <a:avLst/>
          </a:prstGeom>
          <a:noFill/>
          <a:ln w="0">
            <a:noFill/>
          </a:ln>
        </p:spPr>
        <p:txBody>
          <a:bodyPr lIns="91440" tIns="91440" rIns="91440" bIns="91440" anchor="b">
            <a:noAutofit/>
          </a:bodyPr>
          <a:lstStyle/>
          <a:p>
            <a:pPr>
              <a:lnSpc>
                <a:spcPct val="100000"/>
              </a:lnSpc>
              <a:tabLst>
                <a:tab pos="0" algn="l"/>
              </a:tabLst>
            </a:pPr>
            <a:r>
              <a:rPr lang="en-IN" sz="3200" dirty="0"/>
              <a:t>Crowd Management System Using Zone-Based BFS Graph Traversal</a:t>
            </a:r>
            <a:endParaRPr lang="fr-FR" sz="3200" b="0" u="none" strike="noStrike" dirty="0">
              <a:solidFill>
                <a:schemeClr val="dk1"/>
              </a:solidFill>
              <a:effectLst/>
              <a:uFillTx/>
              <a:latin typeface="Arial"/>
            </a:endParaRPr>
          </a:p>
        </p:txBody>
      </p:sp>
      <p:pic>
        <p:nvPicPr>
          <p:cNvPr id="3" name="Picture 2" descr="Lovely Professional University - LPU | Jalandhar">
            <a:extLst>
              <a:ext uri="{FF2B5EF4-FFF2-40B4-BE49-F238E27FC236}">
                <a16:creationId xmlns:a16="http://schemas.microsoft.com/office/drawing/2014/main" id="{DBF1DD51-CE2B-470C-766F-C287EE663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946" y="72416"/>
            <a:ext cx="1176521" cy="117652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6662CC4-BCCD-8A2E-A5A0-C222AC45D009}"/>
              </a:ext>
            </a:extLst>
          </p:cNvPr>
          <p:cNvSpPr txBox="1"/>
          <p:nvPr/>
        </p:nvSpPr>
        <p:spPr>
          <a:xfrm>
            <a:off x="2074126" y="594732"/>
            <a:ext cx="4861931" cy="923330"/>
          </a:xfrm>
          <a:prstGeom prst="rect">
            <a:avLst/>
          </a:prstGeom>
          <a:noFill/>
        </p:spPr>
        <p:txBody>
          <a:bodyPr wrap="square" rtlCol="0">
            <a:spAutoFit/>
          </a:bodyPr>
          <a:lstStyle/>
          <a:p>
            <a:r>
              <a:rPr lang="en-US" dirty="0"/>
              <a:t>Department Of Computer Science Engineering</a:t>
            </a:r>
          </a:p>
          <a:p>
            <a:r>
              <a:rPr lang="en-US" dirty="0"/>
              <a:t>    Lovely Professional University, Punjab</a:t>
            </a:r>
          </a:p>
          <a:p>
            <a:endParaRPr lang="en-IN" dirty="0"/>
          </a:p>
        </p:txBody>
      </p:sp>
      <p:sp>
        <p:nvSpPr>
          <p:cNvPr id="6" name="TextBox 5">
            <a:extLst>
              <a:ext uri="{FF2B5EF4-FFF2-40B4-BE49-F238E27FC236}">
                <a16:creationId xmlns:a16="http://schemas.microsoft.com/office/drawing/2014/main" id="{681B0526-F1DC-8E00-347A-07385EB57951}"/>
              </a:ext>
            </a:extLst>
          </p:cNvPr>
          <p:cNvSpPr txBox="1"/>
          <p:nvPr/>
        </p:nvSpPr>
        <p:spPr>
          <a:xfrm>
            <a:off x="5724293" y="2869580"/>
            <a:ext cx="3029107" cy="861774"/>
          </a:xfrm>
          <a:prstGeom prst="rect">
            <a:avLst/>
          </a:prstGeom>
          <a:noFill/>
        </p:spPr>
        <p:txBody>
          <a:bodyPr wrap="square" rtlCol="0">
            <a:spAutoFit/>
          </a:bodyPr>
          <a:lstStyle/>
          <a:p>
            <a:r>
              <a:rPr lang="en-US" sz="1600" dirty="0">
                <a:solidFill>
                  <a:schemeClr val="tx1">
                    <a:lumMod val="95000"/>
                    <a:lumOff val="5000"/>
                  </a:schemeClr>
                </a:solidFill>
              </a:rPr>
              <a:t>Guidance Under:-  Anshu </a:t>
            </a:r>
            <a:r>
              <a:rPr lang="en-US" sz="1600" dirty="0" err="1">
                <a:solidFill>
                  <a:schemeClr val="tx1">
                    <a:lumMod val="95000"/>
                    <a:lumOff val="5000"/>
                  </a:schemeClr>
                </a:solidFill>
              </a:rPr>
              <a:t>sharma</a:t>
            </a:r>
            <a:endParaRPr lang="en-US" sz="1600" dirty="0">
              <a:solidFill>
                <a:schemeClr val="tx1">
                  <a:lumMod val="95000"/>
                  <a:lumOff val="5000"/>
                </a:schemeClr>
              </a:solidFill>
            </a:endParaRPr>
          </a:p>
          <a:p>
            <a:r>
              <a:rPr lang="en-US" sz="1600" dirty="0">
                <a:solidFill>
                  <a:schemeClr val="tx1">
                    <a:lumMod val="95000"/>
                    <a:lumOff val="5000"/>
                  </a:schemeClr>
                </a:solidFill>
              </a:rPr>
              <a:t>                            Chirag </a:t>
            </a:r>
            <a:r>
              <a:rPr lang="en-US" sz="1600" dirty="0" err="1">
                <a:solidFill>
                  <a:schemeClr val="tx1">
                    <a:lumMod val="95000"/>
                    <a:lumOff val="5000"/>
                  </a:schemeClr>
                </a:solidFill>
              </a:rPr>
              <a:t>sharma</a:t>
            </a:r>
            <a:endParaRPr lang="en-US" sz="1600" dirty="0">
              <a:solidFill>
                <a:schemeClr val="tx1">
                  <a:lumMod val="95000"/>
                  <a:lumOff val="5000"/>
                </a:schemeClr>
              </a:solidFill>
            </a:endParaRPr>
          </a:p>
          <a:p>
            <a:r>
              <a:rPr lang="en-US" sz="1600" dirty="0">
                <a:solidFill>
                  <a:schemeClr val="tx1">
                    <a:lumMod val="95000"/>
                    <a:lumOff val="5000"/>
                  </a:schemeClr>
                </a:solidFill>
              </a:rPr>
              <a:t>                             Shilpa </a:t>
            </a:r>
            <a:r>
              <a:rPr lang="en-US" sz="1600" dirty="0" err="1">
                <a:solidFill>
                  <a:schemeClr val="tx1">
                    <a:lumMod val="95000"/>
                    <a:lumOff val="5000"/>
                  </a:schemeClr>
                </a:solidFill>
              </a:rPr>
              <a:t>sharma</a:t>
            </a:r>
            <a:r>
              <a:rPr lang="en-US" dirty="0">
                <a:solidFill>
                  <a:schemeClr val="tx1">
                    <a:lumMod val="95000"/>
                    <a:lumOff val="5000"/>
                  </a:schemeClr>
                </a:solidFill>
              </a:rPr>
              <a:t>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2"/>
          <p:cNvSpPr>
            <a:spLocks noGrp="1"/>
          </p:cNvSpPr>
          <p:nvPr>
            <p:ph type="body"/>
          </p:nvPr>
        </p:nvSpPr>
        <p:spPr>
          <a:xfrm>
            <a:off x="230459" y="1286827"/>
            <a:ext cx="5217421" cy="2980373"/>
          </a:xfrm>
          <a:prstGeom prst="rect">
            <a:avLst/>
          </a:prstGeom>
          <a:noFill/>
          <a:ln w="0">
            <a:noFill/>
          </a:ln>
        </p:spPr>
        <p:txBody>
          <a:bodyPr lIns="91440" tIns="91440" rIns="91440" bIns="91440" anchor="b">
            <a:normAutofit fontScale="47500" lnSpcReduction="20000"/>
          </a:bodyPr>
          <a:lstStyle/>
          <a:p>
            <a:r>
              <a:rPr lang="en-US" sz="2800" dirty="0"/>
              <a:t>In crowded places like temples, stadiums, railway stations, or fairs, it becomes difficult to control the movement of people. If not managed properly, this can lead to accidents like stampedes. The aim of this project is to design a Crowd Management System that divides the area into smaller parts called zones. Each zone is treated as a node in a graph.</a:t>
            </a:r>
            <a:endParaRPr lang="en-IN" sz="2800" dirty="0"/>
          </a:p>
          <a:p>
            <a:r>
              <a:rPr lang="en-US" sz="2800" dirty="0"/>
              <a:t>We use a method called BFS (Breadth First Search) to find the safest and shortest path for people to move from one zone to another while avoiding overcrowded areas. The system updates zone status based on crowd density and helps guide people through less crowded paths.</a:t>
            </a:r>
            <a:endParaRPr lang="en-IN" sz="2800" dirty="0"/>
          </a:p>
          <a:p>
            <a:r>
              <a:rPr lang="en-US" sz="2800" dirty="0"/>
              <a:t>The project is implemented using C, C++, and Java. C is used for basic logic, C++ for advanced data handling, and Java for user interface. This system can be very useful for security teams to manage large crowds and prevent dangerous situations.</a:t>
            </a:r>
            <a:endParaRPr lang="en-IN" sz="2800" dirty="0"/>
          </a:p>
          <a:p>
            <a:pPr indent="0">
              <a:lnSpc>
                <a:spcPct val="100000"/>
              </a:lnSpc>
              <a:buNone/>
              <a:tabLst>
                <a:tab pos="0" algn="l"/>
              </a:tabLst>
            </a:pPr>
            <a:endParaRPr lang="en-US" sz="1200" b="0" u="none" strike="noStrike" dirty="0">
              <a:solidFill>
                <a:srgbClr val="000000"/>
              </a:solidFill>
              <a:effectLst/>
              <a:uFillTx/>
              <a:latin typeface="OpenSymbol"/>
            </a:endParaRPr>
          </a:p>
        </p:txBody>
      </p:sp>
      <p:sp>
        <p:nvSpPr>
          <p:cNvPr id="89" name="PlaceHolder 1"/>
          <p:cNvSpPr>
            <a:spLocks noGrp="1"/>
          </p:cNvSpPr>
          <p:nvPr>
            <p:ph type="title"/>
          </p:nvPr>
        </p:nvSpPr>
        <p:spPr>
          <a:xfrm>
            <a:off x="390600" y="247680"/>
            <a:ext cx="5057280" cy="926195"/>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600" b="0" u="none" strike="noStrike" dirty="0">
                <a:solidFill>
                  <a:schemeClr val="dk1"/>
                </a:solidFill>
                <a:effectLst/>
                <a:uFillTx/>
                <a:latin typeface="Libre Baskerville"/>
                <a:ea typeface="Libre Baskerville"/>
              </a:rPr>
              <a:t>Introduction</a:t>
            </a:r>
            <a:endParaRPr lang="fr-FR" sz="2600" b="0" u="none" strike="noStrike" dirty="0">
              <a:solidFill>
                <a:schemeClr val="dk1"/>
              </a:solidFill>
              <a:effectLst/>
              <a:uFillTx/>
              <a:latin typeface="Arial"/>
            </a:endParaRPr>
          </a:p>
        </p:txBody>
      </p:sp>
      <p:pic>
        <p:nvPicPr>
          <p:cNvPr id="91" name="Google Shape;193;p30"/>
          <p:cNvPicPr/>
          <p:nvPr/>
        </p:nvPicPr>
        <p:blipFill>
          <a:blip r:embed="rId2"/>
          <a:srcRect l="34375" r="18568"/>
          <a:stretch/>
        </p:blipFill>
        <p:spPr>
          <a:xfrm>
            <a:off x="6014224" y="0"/>
            <a:ext cx="3129416" cy="5143320"/>
          </a:xfrm>
          <a:prstGeom prst="rect">
            <a:avLst/>
          </a:prstGeom>
          <a:noFill/>
          <a:ln w="0">
            <a:noFill/>
          </a:ln>
        </p:spPr>
      </p:pic>
      <p:cxnSp>
        <p:nvCxnSpPr>
          <p:cNvPr id="92" name="Google Shape;194;p30"/>
          <p:cNvCxnSpPr/>
          <p:nvPr/>
        </p:nvCxnSpPr>
        <p:spPr>
          <a:xfrm>
            <a:off x="0" y="1173875"/>
            <a:ext cx="5531400" cy="360"/>
          </a:xfrm>
          <a:prstGeom prst="straightConnector1">
            <a:avLst/>
          </a:prstGeom>
          <a:ln w="9525">
            <a:solidFill>
              <a:srgbClr val="C1C2AF"/>
            </a:solidFill>
            <a:roun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2"/>
          <p:cNvSpPr>
            <a:spLocks noGrp="1"/>
          </p:cNvSpPr>
          <p:nvPr>
            <p:ph type="body"/>
          </p:nvPr>
        </p:nvSpPr>
        <p:spPr>
          <a:xfrm>
            <a:off x="-4763" y="3149600"/>
            <a:ext cx="9144001" cy="1993900"/>
          </a:xfrm>
          <a:noFill/>
          <a:ln w="0">
            <a:noFill/>
          </a:ln>
        </p:spPr>
        <p:txBody>
          <a:bodyPr lIns="91440" tIns="91440" rIns="91440" bIns="91440" anchor="b">
            <a:normAutofit fontScale="97500"/>
          </a:bodyPr>
          <a:lstStyle/>
          <a:p>
            <a:r>
              <a:rPr lang="fr-FR" dirty="0"/>
              <a:t>LITERATURE REVIEW</a:t>
            </a:r>
          </a:p>
        </p:txBody>
      </p:sp>
      <p:pic>
        <p:nvPicPr>
          <p:cNvPr id="95" name="Google Shape;201;p31"/>
          <p:cNvPicPr/>
          <p:nvPr/>
        </p:nvPicPr>
        <p:blipFill>
          <a:blip r:embed="rId2"/>
          <a:srcRect t="27583" b="33526"/>
          <a:stretch/>
        </p:blipFill>
        <p:spPr>
          <a:xfrm>
            <a:off x="-5040" y="3983772"/>
            <a:ext cx="9143640" cy="1159188"/>
          </a:xfrm>
          <a:prstGeom prst="rect">
            <a:avLst/>
          </a:prstGeom>
          <a:noFill/>
          <a:ln w="0">
            <a:noFill/>
          </a:ln>
        </p:spPr>
      </p:pic>
      <p:sp>
        <p:nvSpPr>
          <p:cNvPr id="5" name="Title 4">
            <a:extLst>
              <a:ext uri="{FF2B5EF4-FFF2-40B4-BE49-F238E27FC236}">
                <a16:creationId xmlns:a16="http://schemas.microsoft.com/office/drawing/2014/main" id="{8FEEDD42-0259-512F-DB3F-F2E786870E34}"/>
              </a:ext>
            </a:extLst>
          </p:cNvPr>
          <p:cNvSpPr>
            <a:spLocks noGrp="1"/>
          </p:cNvSpPr>
          <p:nvPr>
            <p:ph type="title"/>
          </p:nvPr>
        </p:nvSpPr>
        <p:spPr>
          <a:xfrm flipV="1">
            <a:off x="394920" y="-356840"/>
            <a:ext cx="8353440" cy="356840"/>
          </a:xfrm>
        </p:spPr>
        <p:txBody>
          <a:bodyPr/>
          <a:lstStyle/>
          <a:p>
            <a:endParaRPr lang="en-IN" dirty="0"/>
          </a:p>
        </p:txBody>
      </p:sp>
      <p:sp>
        <p:nvSpPr>
          <p:cNvPr id="6" name="Title 5">
            <a:extLst>
              <a:ext uri="{FF2B5EF4-FFF2-40B4-BE49-F238E27FC236}">
                <a16:creationId xmlns:a16="http://schemas.microsoft.com/office/drawing/2014/main" id="{2CF81B17-85E4-B064-64D3-C70ED899B711}"/>
              </a:ext>
            </a:extLst>
          </p:cNvPr>
          <p:cNvSpPr>
            <a:spLocks noGrp="1"/>
          </p:cNvSpPr>
          <p:nvPr>
            <p:ph type="title"/>
          </p:nvPr>
        </p:nvSpPr>
        <p:spPr>
          <a:xfrm>
            <a:off x="394919" y="395280"/>
            <a:ext cx="4645431" cy="720491"/>
          </a:xfrm>
        </p:spPr>
        <p:txBody>
          <a:bodyPr/>
          <a:lstStyle/>
          <a:p>
            <a:r>
              <a:rPr lang="en-US" dirty="0"/>
              <a:t>LITERATURE REVIEW</a:t>
            </a:r>
            <a:endParaRPr lang="en-IN" dirty="0"/>
          </a:p>
        </p:txBody>
      </p:sp>
      <p:sp>
        <p:nvSpPr>
          <p:cNvPr id="7" name="TextBox 6">
            <a:extLst>
              <a:ext uri="{FF2B5EF4-FFF2-40B4-BE49-F238E27FC236}">
                <a16:creationId xmlns:a16="http://schemas.microsoft.com/office/drawing/2014/main" id="{297155C7-64E1-1CF2-8979-97968006696C}"/>
              </a:ext>
            </a:extLst>
          </p:cNvPr>
          <p:cNvSpPr txBox="1"/>
          <p:nvPr/>
        </p:nvSpPr>
        <p:spPr>
          <a:xfrm>
            <a:off x="185853" y="1116311"/>
            <a:ext cx="8207298" cy="2585323"/>
          </a:xfrm>
          <a:prstGeom prst="rect">
            <a:avLst/>
          </a:prstGeom>
          <a:noFill/>
        </p:spPr>
        <p:txBody>
          <a:bodyPr wrap="square" rtlCol="0">
            <a:spAutoFit/>
          </a:bodyPr>
          <a:lstStyle/>
          <a:p>
            <a:pPr>
              <a:buNone/>
            </a:pPr>
            <a:r>
              <a:rPr lang="en-IN" sz="1800" dirty="0">
                <a:effectLst/>
                <a:latin typeface="Times New Roman" panose="02020603050405020304" pitchFamily="18" charset="0"/>
                <a:ea typeface="Times New Roman" panose="02020603050405020304" pitchFamily="18" charset="0"/>
              </a:rPr>
              <a:t>Several crowd management techniques exist, such as RFID tracking, CCTV monitoring, and AI-based heatmaps. However, many of these systems lack dynamic pathfinding.</a:t>
            </a:r>
            <a:endParaRPr lang="en-IN" sz="1400" dirty="0">
              <a:effectLst/>
              <a:latin typeface="Times New Roman" panose="02020603050405020304" pitchFamily="18" charset="0"/>
              <a:ea typeface="SimSun" panose="02010600030101010101" pitchFamily="2" charset="-122"/>
            </a:endParaRPr>
          </a:p>
          <a:p>
            <a:pPr>
              <a:buNone/>
            </a:pPr>
            <a:r>
              <a:rPr lang="en-IN" sz="1800" dirty="0">
                <a:effectLst/>
                <a:latin typeface="Times New Roman" panose="02020603050405020304" pitchFamily="18" charset="0"/>
                <a:ea typeface="Times New Roman" panose="02020603050405020304" pitchFamily="18" charset="0"/>
              </a:rPr>
              <a:t>This project builds on research involving:</a:t>
            </a:r>
            <a:endParaRPr lang="en-IN" sz="1400" dirty="0">
              <a:effectLst/>
              <a:latin typeface="Times New Roman" panose="02020603050405020304" pitchFamily="18" charset="0"/>
              <a:ea typeface="SimSun" panose="02010600030101010101" pitchFamily="2" charset="-122"/>
            </a:endParaRP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BFS and DFS traversal in pathfinding</a:t>
            </a:r>
            <a:endParaRPr lang="en-IN" sz="1400" dirty="0">
              <a:effectLst/>
              <a:latin typeface="Times New Roman" panose="02020603050405020304" pitchFamily="18" charset="0"/>
              <a:ea typeface="SimSun" panose="02010600030101010101" pitchFamily="2" charset="-122"/>
            </a:endParaRP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Zone-based partitioning in smart cities</a:t>
            </a:r>
            <a:endParaRPr lang="en-IN" sz="1400" dirty="0">
              <a:effectLst/>
              <a:latin typeface="Times New Roman" panose="02020603050405020304" pitchFamily="18" charset="0"/>
              <a:ea typeface="SimSun" panose="02010600030101010101" pitchFamily="2" charset="-122"/>
            </a:endParaRP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Safety algorithms in public transport and festivals</a:t>
            </a:r>
            <a:endParaRPr lang="en-IN" sz="1400" dirty="0">
              <a:effectLst/>
              <a:latin typeface="Times New Roman" panose="02020603050405020304" pitchFamily="18" charset="0"/>
              <a:ea typeface="SimSun" panose="02010600030101010101" pitchFamily="2" charset="-122"/>
            </a:endParaRPr>
          </a:p>
          <a:p>
            <a:pPr>
              <a:buNone/>
            </a:pPr>
            <a:r>
              <a:rPr lang="en-IN" sz="1800" dirty="0">
                <a:effectLst/>
                <a:latin typeface="Times New Roman" panose="02020603050405020304" pitchFamily="18" charset="0"/>
                <a:ea typeface="Times New Roman" panose="02020603050405020304" pitchFamily="18" charset="0"/>
              </a:rPr>
              <a:t>The BFS method is proven to be fast and effective for shortest path detection in graphs, which makes it suitable for real-time crowd navigation</a:t>
            </a:r>
            <a:endParaRPr lang="en-IN" sz="1400" dirty="0">
              <a:effectLst/>
              <a:latin typeface="Times New Roman" panose="02020603050405020304" pitchFamily="18" charset="0"/>
              <a:ea typeface="SimSun"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2"/>
          <p:cNvSpPr>
            <a:spLocks noGrp="1"/>
          </p:cNvSpPr>
          <p:nvPr>
            <p:ph type="body"/>
          </p:nvPr>
        </p:nvSpPr>
        <p:spPr>
          <a:xfrm>
            <a:off x="390599" y="1739951"/>
            <a:ext cx="4657185" cy="1709133"/>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1400" b="0" u="none" strike="noStrike" dirty="0">
                <a:solidFill>
                  <a:schemeClr val="dk1"/>
                </a:solidFill>
                <a:effectLst/>
                <a:uFillTx/>
                <a:latin typeface="DM Sans"/>
                <a:ea typeface="DM Sans"/>
              </a:rPr>
              <a:t>Crowd management is crucial for safety and efficiency. It helps in preventing accidents, ensuring smooth flow, and providing assistance in emergencies. By effectively managing crowds, event organizers can enhance the overall experience and satisfaction of attendees.</a:t>
            </a:r>
            <a:endParaRPr lang="en-US" sz="1400" b="0" u="none" strike="noStrike" dirty="0">
              <a:solidFill>
                <a:srgbClr val="000000"/>
              </a:solidFill>
              <a:effectLst/>
              <a:uFillTx/>
              <a:latin typeface="OpenSymbol"/>
            </a:endParaRPr>
          </a:p>
        </p:txBody>
      </p:sp>
      <p:sp>
        <p:nvSpPr>
          <p:cNvPr id="96" name="PlaceHolder 1"/>
          <p:cNvSpPr>
            <a:spLocks noGrp="1"/>
          </p:cNvSpPr>
          <p:nvPr>
            <p:ph type="title"/>
          </p:nvPr>
        </p:nvSpPr>
        <p:spPr>
          <a:xfrm>
            <a:off x="390600" y="247680"/>
            <a:ext cx="5057280" cy="11332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2600" b="0" u="none" strike="noStrike">
                <a:solidFill>
                  <a:schemeClr val="dk1"/>
                </a:solidFill>
                <a:effectLst/>
                <a:uFillTx/>
                <a:latin typeface="Libre Baskerville"/>
                <a:ea typeface="Libre Baskerville"/>
              </a:rPr>
              <a:t>Importance of Crowd Management</a:t>
            </a:r>
            <a:endParaRPr lang="fr-FR" sz="2600" b="0" u="none" strike="noStrike">
              <a:solidFill>
                <a:schemeClr val="dk1"/>
              </a:solidFill>
              <a:effectLst/>
              <a:uFillTx/>
              <a:latin typeface="Arial"/>
            </a:endParaRPr>
          </a:p>
        </p:txBody>
      </p:sp>
      <p:pic>
        <p:nvPicPr>
          <p:cNvPr id="98" name="Google Shape;193;p30"/>
          <p:cNvPicPr/>
          <p:nvPr/>
        </p:nvPicPr>
        <p:blipFill>
          <a:blip r:embed="rId2"/>
          <a:srcRect l="34375" r="18568"/>
          <a:stretch/>
        </p:blipFill>
        <p:spPr>
          <a:xfrm>
            <a:off x="5512680" y="0"/>
            <a:ext cx="3630960" cy="5143320"/>
          </a:xfrm>
          <a:prstGeom prst="rect">
            <a:avLst/>
          </a:prstGeom>
          <a:noFill/>
          <a:ln w="0">
            <a:noFill/>
          </a:ln>
        </p:spPr>
      </p:pic>
      <p:cxnSp>
        <p:nvCxnSpPr>
          <p:cNvPr id="99" name="Google Shape;194;p30"/>
          <p:cNvCxnSpPr/>
          <p:nvPr/>
        </p:nvCxnSpPr>
        <p:spPr>
          <a:xfrm>
            <a:off x="-18720" y="1382400"/>
            <a:ext cx="5531400" cy="360"/>
          </a:xfrm>
          <a:prstGeom prst="straightConnector1">
            <a:avLst/>
          </a:prstGeom>
          <a:ln w="9525">
            <a:solidFill>
              <a:srgbClr val="C1C2AF"/>
            </a:solidFill>
            <a:roun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390600" y="260195"/>
            <a:ext cx="8295840" cy="4103649"/>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u="none" strike="noStrike" dirty="0">
                <a:solidFill>
                  <a:schemeClr val="dk1"/>
                </a:solidFill>
                <a:effectLst/>
                <a:uFillTx/>
                <a:latin typeface="Libre Baskerville"/>
                <a:ea typeface="Libre Baskerville"/>
              </a:rPr>
              <a:t>Challenges in Managing Crowds</a:t>
            </a:r>
            <a:endParaRPr lang="fr-FR" sz="2600" b="0" u="none" strike="noStrike" dirty="0">
              <a:solidFill>
                <a:schemeClr val="dk1"/>
              </a:solidFill>
              <a:effectLst/>
              <a:uFillTx/>
              <a:latin typeface="Arial"/>
            </a:endParaRPr>
          </a:p>
        </p:txBody>
      </p:sp>
      <p:sp>
        <p:nvSpPr>
          <p:cNvPr id="2" name="Text Placeholder 1">
            <a:extLst>
              <a:ext uri="{FF2B5EF4-FFF2-40B4-BE49-F238E27FC236}">
                <a16:creationId xmlns:a16="http://schemas.microsoft.com/office/drawing/2014/main" id="{DC293D0F-15B0-32D3-F2D0-999706A587B1}"/>
              </a:ext>
            </a:extLst>
          </p:cNvPr>
          <p:cNvSpPr>
            <a:spLocks noGrp="1" noChangeArrowheads="1"/>
          </p:cNvSpPr>
          <p:nvPr>
            <p:ph type="body"/>
          </p:nvPr>
        </p:nvSpPr>
        <p:spPr bwMode="auto">
          <a:xfrm>
            <a:off x="390600" y="1042012"/>
            <a:ext cx="790590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Overcrowding in Zones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Too many people gather in one area, increasing risk of stampede or panic.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Lack of Real-time Monitoring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Authorities can't track people zone-by-zone, leading to delayed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Uncontrolled Movement</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People may ignore directions and enter wrong or restricted zones.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Emergency Situations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It's hard to quickly evacuate people during fire, medical, or security threats.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Poor Communication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Instructions may not reach the crowd effectively, causing confusion and chaos.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2"/>
          <p:cNvSpPr>
            <a:spLocks noGrp="1"/>
          </p:cNvSpPr>
          <p:nvPr>
            <p:ph type="body"/>
          </p:nvPr>
        </p:nvSpPr>
        <p:spPr>
          <a:xfrm>
            <a:off x="279088" y="1516566"/>
            <a:ext cx="7392950" cy="2728332"/>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u="none" strike="noStrike" dirty="0">
                <a:solidFill>
                  <a:schemeClr val="dk1"/>
                </a:solidFill>
                <a:effectLst/>
                <a:uFillTx/>
                <a:latin typeface="DM Sans"/>
                <a:ea typeface="DM Sans"/>
              </a:rPr>
              <a:t>Technology plays a huge role in modern crowd management. From mobile apps that provide real-time updates to surveillance cameras that monitor crowds, tech helps improve safety and efficiency. It allows organizers to analyze crowd behavior and response times, making adjustments on the fly to prevent issues before they arise.</a:t>
            </a:r>
            <a:endParaRPr lang="en-US" sz="1200" b="0" u="none" strike="noStrike" dirty="0">
              <a:solidFill>
                <a:srgbClr val="000000"/>
              </a:solidFill>
              <a:effectLst/>
              <a:uFillTx/>
              <a:latin typeface="OpenSymbol"/>
            </a:endParaRPr>
          </a:p>
        </p:txBody>
      </p:sp>
      <p:sp>
        <p:nvSpPr>
          <p:cNvPr id="102" name="PlaceHolder 1"/>
          <p:cNvSpPr>
            <a:spLocks noGrp="1"/>
          </p:cNvSpPr>
          <p:nvPr>
            <p:ph type="title"/>
          </p:nvPr>
        </p:nvSpPr>
        <p:spPr>
          <a:xfrm>
            <a:off x="390600" y="230459"/>
            <a:ext cx="8295840" cy="4417501"/>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u="none" strike="noStrike" dirty="0">
                <a:solidFill>
                  <a:schemeClr val="dk1"/>
                </a:solidFill>
                <a:effectLst/>
                <a:uFillTx/>
                <a:latin typeface="Libre Baskerville"/>
                <a:ea typeface="Libre Baskerville"/>
              </a:rPr>
              <a:t>Role of Technology in Crowd Control</a:t>
            </a:r>
            <a:endParaRPr lang="fr-FR" sz="2600" b="0" u="none" strike="noStrike" dirty="0">
              <a:solidFill>
                <a:schemeClr val="dk1"/>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2"/>
          <p:cNvSpPr>
            <a:spLocks noGrp="1"/>
          </p:cNvSpPr>
          <p:nvPr>
            <p:ph type="body"/>
          </p:nvPr>
        </p:nvSpPr>
        <p:spPr>
          <a:xfrm>
            <a:off x="304801" y="1137423"/>
            <a:ext cx="5486400" cy="1747025"/>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u="none" strike="noStrike" dirty="0">
                <a:solidFill>
                  <a:schemeClr val="dk1"/>
                </a:solidFill>
                <a:effectLst/>
                <a:uFillTx/>
                <a:latin typeface="DM Sans"/>
                <a:ea typeface="DM Sans"/>
              </a:rPr>
              <a:t>Graph traversal is a method used to visit and explore nodes in a graph. It’s like navigating a map. You can visualize it as determining the best route to reach a destination, ensuring you don’t miss any key points along the way. This concept is essential in creating efficient paths for crowd movement.</a:t>
            </a:r>
            <a:endParaRPr lang="en-US" sz="1200" b="0" u="none" strike="noStrike" dirty="0">
              <a:solidFill>
                <a:srgbClr val="000000"/>
              </a:solidFill>
              <a:effectLst/>
              <a:uFillTx/>
              <a:latin typeface="OpenSymbol"/>
            </a:endParaRPr>
          </a:p>
        </p:txBody>
      </p:sp>
      <p:sp>
        <p:nvSpPr>
          <p:cNvPr id="107" name="PlaceHolder 1"/>
          <p:cNvSpPr>
            <a:spLocks noGrp="1"/>
          </p:cNvSpPr>
          <p:nvPr>
            <p:ph type="title"/>
          </p:nvPr>
        </p:nvSpPr>
        <p:spPr>
          <a:xfrm>
            <a:off x="390600" y="118946"/>
            <a:ext cx="8295840" cy="884664"/>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u="none" strike="noStrike" dirty="0">
                <a:solidFill>
                  <a:schemeClr val="dk1"/>
                </a:solidFill>
                <a:effectLst/>
                <a:uFillTx/>
                <a:latin typeface="Libre Baskerville"/>
                <a:ea typeface="Libre Baskerville"/>
              </a:rPr>
              <a:t>What is Graph Traversal?</a:t>
            </a:r>
            <a:endParaRPr lang="fr-FR" sz="2600" b="0" u="none" strike="noStrike" dirty="0">
              <a:solidFill>
                <a:schemeClr val="dk1"/>
              </a:solidFill>
              <a:effectLst/>
              <a:uFillTx/>
              <a:latin typeface="Arial"/>
            </a:endParaRPr>
          </a:p>
        </p:txBody>
      </p:sp>
      <p:pic>
        <p:nvPicPr>
          <p:cNvPr id="3" name="Picture 2">
            <a:extLst>
              <a:ext uri="{FF2B5EF4-FFF2-40B4-BE49-F238E27FC236}">
                <a16:creationId xmlns:a16="http://schemas.microsoft.com/office/drawing/2014/main" id="{5E9B5348-3901-F19E-1C83-1E496E650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6615" y="491118"/>
            <a:ext cx="2729491" cy="37904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2"/>
          <p:cNvSpPr>
            <a:spLocks noGrp="1"/>
          </p:cNvSpPr>
          <p:nvPr>
            <p:ph type="body"/>
          </p:nvPr>
        </p:nvSpPr>
        <p:spPr>
          <a:xfrm>
            <a:off x="390600" y="1704960"/>
            <a:ext cx="4295520" cy="1350474"/>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1200" b="0" u="none" strike="noStrike" dirty="0">
                <a:solidFill>
                  <a:schemeClr val="dk1"/>
                </a:solidFill>
                <a:effectLst/>
                <a:uFillTx/>
                <a:latin typeface="DM Sans"/>
                <a:ea typeface="DM Sans"/>
              </a:rPr>
              <a:t>BFS is a technique that explores all neighbors at the present depth before moving on to nodes at the next depth level. It’s an effective way to find the shortest path in a network or layout, making it perfect for strategizing crowd movement in different zones.</a:t>
            </a:r>
            <a:endParaRPr lang="en-US" sz="1200" b="0" u="none" strike="noStrike" dirty="0">
              <a:solidFill>
                <a:srgbClr val="000000"/>
              </a:solidFill>
              <a:effectLst/>
              <a:uFillTx/>
              <a:latin typeface="OpenSymbol"/>
            </a:endParaRPr>
          </a:p>
        </p:txBody>
      </p:sp>
      <p:sp>
        <p:nvSpPr>
          <p:cNvPr id="109" name="PlaceHolder 1"/>
          <p:cNvSpPr>
            <a:spLocks noGrp="1"/>
          </p:cNvSpPr>
          <p:nvPr>
            <p:ph type="title"/>
          </p:nvPr>
        </p:nvSpPr>
        <p:spPr>
          <a:xfrm>
            <a:off x="390600" y="247680"/>
            <a:ext cx="5057280" cy="113328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2600" b="0" u="none" strike="noStrike">
                <a:solidFill>
                  <a:schemeClr val="dk1"/>
                </a:solidFill>
                <a:effectLst/>
                <a:uFillTx/>
                <a:latin typeface="Libre Baskerville"/>
                <a:ea typeface="Libre Baskerville"/>
              </a:rPr>
              <a:t>Understanding BFS (Breadth-First Search)</a:t>
            </a:r>
            <a:endParaRPr lang="fr-FR" sz="2600" b="0" u="none" strike="noStrike">
              <a:solidFill>
                <a:schemeClr val="dk1"/>
              </a:solidFill>
              <a:effectLst/>
              <a:uFillTx/>
              <a:latin typeface="Arial"/>
            </a:endParaRPr>
          </a:p>
        </p:txBody>
      </p:sp>
      <p:pic>
        <p:nvPicPr>
          <p:cNvPr id="111" name="Google Shape;193;p30"/>
          <p:cNvPicPr/>
          <p:nvPr/>
        </p:nvPicPr>
        <p:blipFill>
          <a:blip r:embed="rId2"/>
          <a:srcRect l="34375" r="18568"/>
          <a:stretch/>
        </p:blipFill>
        <p:spPr>
          <a:xfrm>
            <a:off x="5512680" y="0"/>
            <a:ext cx="3630960" cy="5143320"/>
          </a:xfrm>
          <a:prstGeom prst="rect">
            <a:avLst/>
          </a:prstGeom>
          <a:noFill/>
          <a:ln w="0">
            <a:noFill/>
          </a:ln>
        </p:spPr>
      </p:pic>
      <p:cxnSp>
        <p:nvCxnSpPr>
          <p:cNvPr id="112" name="Google Shape;194;p30"/>
          <p:cNvCxnSpPr/>
          <p:nvPr/>
        </p:nvCxnSpPr>
        <p:spPr>
          <a:xfrm>
            <a:off x="-18720" y="1382400"/>
            <a:ext cx="5531400" cy="360"/>
          </a:xfrm>
          <a:prstGeom prst="straightConnector1">
            <a:avLst/>
          </a:prstGeom>
          <a:ln w="9525">
            <a:solidFill>
              <a:srgbClr val="C1C2AF"/>
            </a:solidFill>
            <a:roun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2"/>
          <p:cNvSpPr>
            <a:spLocks noGrp="1"/>
          </p:cNvSpPr>
          <p:nvPr>
            <p:ph type="body"/>
          </p:nvPr>
        </p:nvSpPr>
        <p:spPr>
          <a:xfrm>
            <a:off x="282498" y="1694986"/>
            <a:ext cx="6787375" cy="1571654"/>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u="none" strike="noStrike" dirty="0">
                <a:solidFill>
                  <a:schemeClr val="dk1"/>
                </a:solidFill>
                <a:effectLst/>
                <a:uFillTx/>
                <a:latin typeface="DM Sans"/>
                <a:ea typeface="DM Sans"/>
              </a:rPr>
              <a:t>With zone-based BFS, we can divide areas into manageable sections, allowing for organized movement and better control. This approach can help in evacuations, directing crowds to safety, or optimizing entry and exit points during events, ensuring everything runs smoothly and safely.</a:t>
            </a:r>
            <a:endParaRPr lang="en-US" sz="1200" b="0" u="none" strike="noStrike" dirty="0">
              <a:solidFill>
                <a:srgbClr val="000000"/>
              </a:solidFill>
              <a:effectLst/>
              <a:uFillTx/>
              <a:latin typeface="OpenSymbol"/>
            </a:endParaRPr>
          </a:p>
        </p:txBody>
      </p:sp>
      <p:sp>
        <p:nvSpPr>
          <p:cNvPr id="113" name="PlaceHolder 1"/>
          <p:cNvSpPr>
            <a:spLocks noGrp="1"/>
          </p:cNvSpPr>
          <p:nvPr>
            <p:ph type="title"/>
          </p:nvPr>
        </p:nvSpPr>
        <p:spPr>
          <a:xfrm>
            <a:off x="390600" y="289932"/>
            <a:ext cx="8295840" cy="95157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2600" b="0" u="none" strike="noStrike" dirty="0">
                <a:solidFill>
                  <a:schemeClr val="dk1"/>
                </a:solidFill>
                <a:effectLst/>
                <a:uFillTx/>
                <a:latin typeface="Libre Baskerville"/>
                <a:ea typeface="Libre Baskerville"/>
              </a:rPr>
              <a:t>Application of Zone-Based BFS in Crowd Management</a:t>
            </a:r>
            <a:endParaRPr lang="fr-FR" sz="2600" b="0" u="none" strike="noStrike" dirty="0">
              <a:solidFill>
                <a:schemeClr val="dk1"/>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2"/>
          <p:cNvSpPr>
            <a:spLocks noGrp="1"/>
          </p:cNvSpPr>
          <p:nvPr>
            <p:ph type="body"/>
          </p:nvPr>
        </p:nvSpPr>
        <p:spPr>
          <a:xfrm>
            <a:off x="457200" y="1018478"/>
            <a:ext cx="7326351" cy="2248162"/>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200" dirty="0"/>
              <a:t>The </a:t>
            </a:r>
            <a:r>
              <a:rPr lang="en-US" sz="1200" b="1" dirty="0"/>
              <a:t>Crowd Management System using Zone-Based BFS Graph Traversal</a:t>
            </a:r>
            <a:r>
              <a:rPr lang="en-US" sz="1200" dirty="0"/>
              <a:t> provides an efficient and smart way to control large gatherings. By dividing the area into zones and using the </a:t>
            </a:r>
            <a:r>
              <a:rPr lang="en-US" sz="1200" b="1" dirty="0"/>
              <a:t>Breadth First Search (BFS)</a:t>
            </a:r>
            <a:r>
              <a:rPr lang="en-US" sz="1200" dirty="0"/>
              <a:t> algorithm, we can monitor crowd movement, detect overcrowded zones, and guide people safely in real-time. This system helps reduce risks of stampede, panic, and delays during emergencies. It also supports better decision-making for authorities through zone-wise crowd tracking and alternate route suggestions.</a:t>
            </a:r>
            <a:br>
              <a:rPr lang="en-US" sz="1200" dirty="0"/>
            </a:br>
            <a:r>
              <a:rPr lang="en-US" sz="1200" dirty="0"/>
              <a:t>Overall, this system ensures </a:t>
            </a:r>
            <a:r>
              <a:rPr lang="en-US" sz="1200" b="1" dirty="0"/>
              <a:t>safe, organized, and intelligent crowd management</a:t>
            </a:r>
            <a:r>
              <a:rPr lang="en-US" sz="1200" dirty="0"/>
              <a:t> during public events or emergency situations.</a:t>
            </a:r>
            <a:endParaRPr lang="en-US" sz="1200" b="0" u="none" strike="noStrike" dirty="0">
              <a:solidFill>
                <a:srgbClr val="000000"/>
              </a:solidFill>
              <a:effectLst/>
              <a:uFillTx/>
              <a:latin typeface="OpenSymbol"/>
            </a:endParaRPr>
          </a:p>
        </p:txBody>
      </p:sp>
      <p:sp>
        <p:nvSpPr>
          <p:cNvPr id="115" name="PlaceHolder 1"/>
          <p:cNvSpPr>
            <a:spLocks noGrp="1"/>
          </p:cNvSpPr>
          <p:nvPr>
            <p:ph type="title"/>
          </p:nvPr>
        </p:nvSpPr>
        <p:spPr>
          <a:xfrm>
            <a:off x="390600" y="275064"/>
            <a:ext cx="8295840" cy="587298"/>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u="none" strike="noStrike" dirty="0">
                <a:solidFill>
                  <a:schemeClr val="dk1"/>
                </a:solidFill>
                <a:effectLst/>
                <a:uFillTx/>
                <a:latin typeface="Libre Baskerville"/>
                <a:ea typeface="Libre Baskerville"/>
              </a:rPr>
              <a:t>Conclusions</a:t>
            </a:r>
            <a:endParaRPr lang="fr-FR" sz="2600" b="0" u="none" strike="noStrike" dirty="0">
              <a:solidFill>
                <a:schemeClr val="dk1"/>
              </a:solidFill>
              <a:effectLst/>
              <a:uFillTx/>
              <a:latin typeface="Arial"/>
            </a:endParaRPr>
          </a:p>
        </p:txBody>
      </p:sp>
    </p:spTree>
  </p:cSld>
  <p:clrMapOvr>
    <a:masterClrMapping/>
  </p:clrMapOvr>
</p:sld>
</file>

<file path=ppt/theme/theme1.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42</TotalTime>
  <Words>778</Words>
  <Application>Microsoft Office PowerPoint</Application>
  <PresentationFormat>On-screen Show (16:9)</PresentationFormat>
  <Paragraphs>47</Paragraphs>
  <Slides>10</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Arial</vt:lpstr>
      <vt:lpstr>DM Sans</vt:lpstr>
      <vt:lpstr>Gill Sans MT</vt:lpstr>
      <vt:lpstr>Libre Baskerville</vt:lpstr>
      <vt:lpstr>OpenSymbol</vt:lpstr>
      <vt:lpstr>Symbol</vt:lpstr>
      <vt:lpstr>Times New Roman</vt:lpstr>
      <vt:lpstr>Wingdings</vt:lpstr>
      <vt:lpstr>Slidesgo Final Pages</vt:lpstr>
      <vt:lpstr>Gallery</vt:lpstr>
      <vt:lpstr>Crowd Management System Using Zone-Based BFS Graph Traversal</vt:lpstr>
      <vt:lpstr>Introduction</vt:lpstr>
      <vt:lpstr>PowerPoint Presentation</vt:lpstr>
      <vt:lpstr>Importance of Crowd Management</vt:lpstr>
      <vt:lpstr>Challenges in Managing Crowds</vt:lpstr>
      <vt:lpstr>Role of Technology in Crowd Control</vt:lpstr>
      <vt:lpstr>What is Graph Traversal?</vt:lpstr>
      <vt:lpstr>Understanding BFS (Breadth-First Search)</vt:lpstr>
      <vt:lpstr>Application of Zone-Based BFS in Crowd Management</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PRAKRITI SINGH</dc:creator>
  <cp:lastModifiedBy>PRAKRITI SINGH</cp:lastModifiedBy>
  <cp:revision>1</cp:revision>
  <dcterms:modified xsi:type="dcterms:W3CDTF">2025-07-11T10:35:51Z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2025-07-11T09:52:23Z</dcterms:created>
  <dc:creator>Unknown Creator</dc:creator>
  <dc:description/>
  <dc:language>en-US</dc:language>
  <cp:lastModifiedBy>Unknown Creator</cp:lastModifiedBy>
  <dcterms:modified xsi:type="dcterms:W3CDTF">2025-07-11T09:52:23Z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